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0"/>
            <a:ext cx="12188952" cy="4572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6400800"/>
            <a:ext cx="12188952" cy="4572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AGENTIC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00C8FF"/>
                </a:solidFill>
              </a:rPr>
              <a:t>Website Builder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3474720"/>
            <a:ext cx="4572000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A0B4C8"/>
                </a:solidFill>
              </a:rPr>
              <a:t>Executive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97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A0B4C8"/>
                </a:solidFill>
              </a:rPr>
              <a:t>Confidential  ·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658368"/>
            <a:ext cx="8686800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C8FF"/>
                </a:solidFill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Agentic AI Website Builder is an enterprise-grade SaaS platform that enables any organisation to generate, customise, and publish professional websites through a simple conversation — no developers required.
Powered by a five-stage AI agent pipeline (CrewAI + OpenAI GPT-4.1-mini), the platform handles everything from requirements gathering to live hosting on AWS S3, with built-in authentication, Stripe billing, multi-tenant client management, and real-time monitoring — all in one product.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0"/>
            <a:ext cx="2468880" cy="2011680"/>
          </a:xfrm>
          <a:prstGeom prst="rect">
            <a:avLst/>
          </a:prstGeom>
          <a:solidFill>
            <a:srgbClr val="142A3E"/>
          </a:solidFill>
          <a:ln w="1524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977639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C8FF"/>
                </a:solidFill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091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B4C8"/>
                </a:solidFill>
              </a:rPr>
              <a:t>AI Agents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3840480"/>
            <a:ext cx="2468880" cy="2011680"/>
          </a:xfrm>
          <a:prstGeom prst="rect">
            <a:avLst/>
          </a:prstGeom>
          <a:solidFill>
            <a:srgbClr val="142A3E"/>
          </a:solidFill>
          <a:ln w="1524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3977639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C8FF"/>
                </a:solidFill>
              </a:rPr>
              <a:t>&lt; 2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47091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B4C8"/>
                </a:solidFill>
              </a:rPr>
              <a:t>Website Generated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3840480"/>
            <a:ext cx="2468880" cy="2011680"/>
          </a:xfrm>
          <a:prstGeom prst="rect">
            <a:avLst/>
          </a:prstGeom>
          <a:solidFill>
            <a:srgbClr val="142A3E"/>
          </a:solidFill>
          <a:ln w="1524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3977639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C8FF"/>
                </a:solidFill>
              </a:rPr>
              <a:t>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47091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B4C8"/>
                </a:solidFill>
              </a:rPr>
              <a:t>Clients / Tenants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3840480"/>
            <a:ext cx="2468880" cy="2011680"/>
          </a:xfrm>
          <a:prstGeom prst="rect">
            <a:avLst/>
          </a:prstGeom>
          <a:solidFill>
            <a:srgbClr val="142A3E"/>
          </a:solidFill>
          <a:ln w="1524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3977639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C8FF"/>
                </a:solidFill>
              </a:rPr>
              <a:t>AWS 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47091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B4C8"/>
                </a:solidFill>
              </a:rPr>
              <a:t>Instant Hosting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658368"/>
            <a:ext cx="8686800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C8FF"/>
                </a:solidFill>
              </a:rPr>
              <a:t>The Problem We Solve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777240"/>
          </a:xfrm>
          <a:prstGeom prst="rect">
            <a:avLst/>
          </a:prstGeom>
          <a:solidFill>
            <a:srgbClr val="142A3E"/>
          </a:solidFill>
          <a:ln w="1016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✕  Building a professional website takes weeks and costs thousands of dollars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11247120" cy="777240"/>
          </a:xfrm>
          <a:prstGeom prst="rect">
            <a:avLst/>
          </a:prstGeom>
          <a:solidFill>
            <a:srgbClr val="142A3E"/>
          </a:solidFill>
          <a:ln w="1016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031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✕  SMBs and enterprises lack in-house web development talent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017520"/>
            <a:ext cx="11247120" cy="777240"/>
          </a:xfrm>
          <a:prstGeom prst="rect">
            <a:avLst/>
          </a:prstGeom>
          <a:solidFill>
            <a:srgbClr val="142A3E"/>
          </a:solidFill>
          <a:ln w="1016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1089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✕  Traditional website builders require technical expertise and design skills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023360"/>
            <a:ext cx="11247120" cy="777240"/>
          </a:xfrm>
          <a:prstGeom prst="rect">
            <a:avLst/>
          </a:prstGeom>
          <a:solidFill>
            <a:srgbClr val="142A3E"/>
          </a:solidFill>
          <a:ln w="1016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114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✕  Keeping websites updated demands ongoing developer involvement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029200"/>
            <a:ext cx="11247120" cy="777240"/>
          </a:xfrm>
          <a:prstGeom prst="rect">
            <a:avLst/>
          </a:prstGeom>
          <a:solidFill>
            <a:srgbClr val="142A3E"/>
          </a:solidFill>
          <a:ln w="1016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51206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✕  Multi-tenant web agencies struggle to scale client site production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658368"/>
            <a:ext cx="8686800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C8FF"/>
                </a:solidFill>
              </a:rPr>
              <a:t>Our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solidFill>
            <a:srgbClr val="0A2A1A"/>
          </a:solidFill>
          <a:ln w="10160">
            <a:solidFill>
              <a:srgbClr val="00D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8A"/>
                </a:solidFill>
              </a:rPr>
              <a:t>✓  Conversational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987552"/>
            <a:ext cx="79552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Describe your website in plain English — agents handle the rest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65960"/>
            <a:ext cx="11247120" cy="822960"/>
          </a:xfrm>
          <a:prstGeom prst="rect">
            <a:avLst/>
          </a:prstGeom>
          <a:solidFill>
            <a:srgbClr val="0A2A1A"/>
          </a:solidFill>
          <a:ln w="10160">
            <a:solidFill>
              <a:srgbClr val="00D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01167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8A"/>
                </a:solidFill>
              </a:rPr>
              <a:t>✓  5-Stage Agent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039112"/>
            <a:ext cx="79552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Requirements → Design → Theme → Content → Code, fully automated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017520"/>
            <a:ext cx="11247120" cy="822960"/>
          </a:xfrm>
          <a:prstGeom prst="rect">
            <a:avLst/>
          </a:prstGeom>
          <a:solidFill>
            <a:srgbClr val="0A2A1A"/>
          </a:solidFill>
          <a:ln w="10160">
            <a:solidFill>
              <a:srgbClr val="00D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0632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8A"/>
                </a:solidFill>
              </a:rPr>
              <a:t>✓  One-Click Hosting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090672"/>
            <a:ext cx="79552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Publish to AWS S3 in seconds; staging and live environments included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069079"/>
            <a:ext cx="11247120" cy="822960"/>
          </a:xfrm>
          <a:prstGeom prst="rect">
            <a:avLst/>
          </a:prstGeom>
          <a:solidFill>
            <a:srgbClr val="0A2A1A"/>
          </a:solidFill>
          <a:ln w="10160">
            <a:solidFill>
              <a:srgbClr val="00D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11479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8A"/>
                </a:solidFill>
              </a:rPr>
              <a:t>✓  Multi-Tenant SaaS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142231"/>
            <a:ext cx="79552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Manage unlimited clients, each with isolated sites and billing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120640"/>
            <a:ext cx="11247120" cy="822960"/>
          </a:xfrm>
          <a:prstGeom prst="rect">
            <a:avLst/>
          </a:prstGeom>
          <a:solidFill>
            <a:srgbClr val="0A2A1A"/>
          </a:solidFill>
          <a:ln w="10160">
            <a:solidFill>
              <a:srgbClr val="00D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516635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8A"/>
                </a:solidFill>
              </a:rPr>
              <a:t>✓  Enterprise 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5193792"/>
            <a:ext cx="79552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JWT auth, OTP (email + SMS), encrypted secret store, role-based access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658368"/>
            <a:ext cx="8686800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C8FF"/>
                </a:solidFill>
              </a:rPr>
              <a:t>The AI Agent Pipeline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005840"/>
            <a:ext cx="822960" cy="822960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24128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920240"/>
            <a:ext cx="2103120" cy="2926080"/>
          </a:xfrm>
          <a:prstGeom prst="rect">
            <a:avLst/>
          </a:prstGeom>
          <a:solidFill>
            <a:srgbClr val="142A3E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20116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8FF"/>
                </a:solidFill>
              </a:rPr>
              <a:t>Requirements
Analyst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8346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Parses intent, industry,
pages &amp; features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441448" y="2331720"/>
            <a:ext cx="201168" cy="36576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46120" y="1005840"/>
            <a:ext cx="822960" cy="822960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1024128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1920240"/>
            <a:ext cx="2103120" cy="2926080"/>
          </a:xfrm>
          <a:prstGeom prst="rect">
            <a:avLst/>
          </a:prstGeom>
          <a:solidFill>
            <a:srgbClr val="142A3E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20116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8FF"/>
                </a:solidFill>
              </a:rPr>
              <a:t>Designer
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8346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Layout, colour palette
&amp; component planning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73168" y="2331720"/>
            <a:ext cx="201168" cy="36576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77840" y="1005840"/>
            <a:ext cx="822960" cy="822960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77840" y="1024128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83479" y="1920240"/>
            <a:ext cx="2103120" cy="2926080"/>
          </a:xfrm>
          <a:prstGeom prst="rect">
            <a:avLst/>
          </a:prstGeom>
          <a:solidFill>
            <a:srgbClr val="142A3E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83479" y="20116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8FF"/>
                </a:solidFill>
              </a:rPr>
              <a:t>Theme
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79" y="28346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CSS design system,
typography &amp; branding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04888" y="2331720"/>
            <a:ext cx="201168" cy="36576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909559" y="1005840"/>
            <a:ext cx="822960" cy="822960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09559" y="1024128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199" y="1920240"/>
            <a:ext cx="2103120" cy="2926080"/>
          </a:xfrm>
          <a:prstGeom prst="rect">
            <a:avLst/>
          </a:prstGeom>
          <a:solidFill>
            <a:srgbClr val="142A3E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199" y="20116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8FF"/>
                </a:solidFill>
              </a:rPr>
              <a:t>Content
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199" y="28346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AI copywriting enhanced
by live web search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36607" y="2331720"/>
            <a:ext cx="201168" cy="36576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241280" y="1005840"/>
            <a:ext cx="822960" cy="822960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41280" y="1024128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</a:rPr>
              <a:t>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46919" y="1920240"/>
            <a:ext cx="2103120" cy="2926080"/>
          </a:xfrm>
          <a:prstGeom prst="rect">
            <a:avLst/>
          </a:prstGeom>
          <a:solidFill>
            <a:srgbClr val="142A3E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46919" y="20116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8FF"/>
                </a:solidFill>
              </a:rPr>
              <a:t>Developer
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46919" y="28346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Generates production-
ready HTML/CSS/JS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029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D48A"/>
                </a:solidFill>
              </a:rPr>
              <a:t>↓  Output: Hosted on AWS S3 within minutes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658368"/>
            <a:ext cx="8686800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C8FF"/>
                </a:solidFill>
              </a:rPr>
              <a:t>Platform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11430000" cy="822960"/>
          </a:xfrm>
          <a:prstGeom prst="rect">
            <a:avLst/>
          </a:prstGeom>
          <a:solidFill>
            <a:srgbClr val="1A3A5C"/>
          </a:solidFill>
          <a:ln w="762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10058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Login · Dashboard · Console · Monitoring · Logs  (HTML/JS)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20240"/>
            <a:ext cx="11430000" cy="822960"/>
          </a:xfrm>
          <a:prstGeom prst="rect">
            <a:avLst/>
          </a:prstGeom>
          <a:solidFill>
            <a:srgbClr val="143048"/>
          </a:solidFill>
          <a:ln w="762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API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0116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FastAPI REST — Auth · Website Builder · Payments · Commerce · Monitoring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926080"/>
            <a:ext cx="11430000" cy="822960"/>
          </a:xfrm>
          <a:prstGeom prst="rect">
            <a:avLst/>
          </a:prstGeom>
          <a:solidFill>
            <a:srgbClr val="0E263C"/>
          </a:solidFill>
          <a:ln w="762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1752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Agent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30175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CrewAI — 5 specialised agents orchestrated per request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931920"/>
            <a:ext cx="11430000" cy="822960"/>
          </a:xfrm>
          <a:prstGeom prst="rect">
            <a:avLst/>
          </a:prstGeom>
          <a:solidFill>
            <a:srgbClr val="0A1E30"/>
          </a:solidFill>
          <a:ln w="762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02336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Services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40233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Auth · Hosting · Payment · OTP · Notifications · Analytics · Currency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937760"/>
            <a:ext cx="11430000" cy="822960"/>
          </a:xfrm>
          <a:prstGeom prst="rect">
            <a:avLst/>
          </a:prstGeom>
          <a:solidFill>
            <a:srgbClr val="061624"/>
          </a:solidFill>
          <a:ln w="762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2920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Data &amp; Storage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50292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Snowflake (prod) / SQLite (dev) · AWS S3 · Encrypted Secret Store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658368"/>
            <a:ext cx="8686800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C8FF"/>
                </a:solidFill>
              </a:rPr>
              <a:t>Key Platform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60120"/>
            <a:ext cx="2743200" cy="5303520"/>
          </a:xfrm>
          <a:prstGeom prst="rect">
            <a:avLst/>
          </a:prstGeom>
          <a:solidFill>
            <a:srgbClr val="142A3E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0584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8FF"/>
                </a:solidFill>
              </a:rPr>
              <a:t>🔐  Security &amp; Auth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16916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›  JWT + OTP (Email &amp; SMS)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24688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›  Bcrypt password hashing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32461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›  Role-based access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40233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›  Encrypted secret store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48006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›  Rate limiting (SlowAPI)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960120"/>
            <a:ext cx="2743200" cy="5303520"/>
          </a:xfrm>
          <a:prstGeom prst="rect">
            <a:avLst/>
          </a:prstGeom>
          <a:solidFill>
            <a:srgbClr val="142A3E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100584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8FF"/>
                </a:solidFill>
              </a:rPr>
              <a:t>💳  Billing &amp; Commerce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16916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›  Stripe subscriptions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4688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›  Pro &amp; Enterprise plans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32461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›  Shopping cart module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40233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›  Catalogue scraper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48006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›  Payment reminders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960120"/>
            <a:ext cx="2743200" cy="5303520"/>
          </a:xfrm>
          <a:prstGeom prst="rect">
            <a:avLst/>
          </a:prstGeom>
          <a:solidFill>
            <a:srgbClr val="142A3E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100584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8FF"/>
                </a:solidFill>
              </a:rPr>
              <a:t>☁️  Hosting &amp; DevOps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16916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›  AWS S3 staging + publish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4688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›  Custom domain 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32461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›  Scheduled monitoring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0233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›  Real-time health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48006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›  Uptime alerting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98280" y="960120"/>
            <a:ext cx="2743200" cy="5303520"/>
          </a:xfrm>
          <a:prstGeom prst="rect">
            <a:avLst/>
          </a:prstGeom>
          <a:solidFill>
            <a:srgbClr val="142A3E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98280" y="100584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8FF"/>
                </a:solidFill>
              </a:rPr>
              <a:t>🤖  AI Capabilities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16916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›  GPT-4.1-mini powered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24688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›  Web search (Tavily)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32461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›  Social search (Twitter)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40233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›  Website scraping for context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48006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›  Multi-language content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658368"/>
            <a:ext cx="8686800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C8FF"/>
                </a:solidFill>
              </a:rPr>
              <a:t>Who Benefits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3657600" cy="2103120"/>
          </a:xfrm>
          <a:prstGeom prst="rect">
            <a:avLst/>
          </a:prstGeom>
          <a:solidFill>
            <a:srgbClr val="142A3E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C8FF"/>
                </a:solidFill>
              </a:rPr>
              <a:t>🏥 Healthcare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4592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Clinics, diagnostics labs, and hospitals launch patient-facing sites in minutes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960120"/>
            <a:ext cx="3657600" cy="2103120"/>
          </a:xfrm>
          <a:prstGeom prst="rect">
            <a:avLst/>
          </a:prstGeom>
          <a:solidFill>
            <a:srgbClr val="142A3E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10515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C8FF"/>
                </a:solidFill>
              </a:rPr>
              <a:t>🏪 Retail &amp; D2C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64592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Brands go live with product catalogues and shopping carts instantly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960120"/>
            <a:ext cx="3657600" cy="2103120"/>
          </a:xfrm>
          <a:prstGeom prst="rect">
            <a:avLst/>
          </a:prstGeom>
          <a:solidFill>
            <a:srgbClr val="142A3E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0515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C8FF"/>
                </a:solidFill>
              </a:rPr>
              <a:t>🎓 Education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164592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Schools and tutors publish course pages with structured content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429000"/>
            <a:ext cx="3657600" cy="2103120"/>
          </a:xfrm>
          <a:prstGeom prst="rect">
            <a:avLst/>
          </a:prstGeom>
          <a:solidFill>
            <a:srgbClr val="142A3E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5204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C8FF"/>
                </a:solidFill>
              </a:rPr>
              <a:t>⚖️ Professional Services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11480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Law firms, consultants, and HR agencies get polished landing pages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3429000"/>
            <a:ext cx="3657600" cy="2103120"/>
          </a:xfrm>
          <a:prstGeom prst="rect">
            <a:avLst/>
          </a:prstGeom>
          <a:solidFill>
            <a:srgbClr val="142A3E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35204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C8FF"/>
                </a:solidFill>
              </a:rPr>
              <a:t>🏨 Hospitality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411480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Hotels, salons, and restaurants showcase services with AI-curated copy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3429000"/>
            <a:ext cx="3657600" cy="2103120"/>
          </a:xfrm>
          <a:prstGeom prst="rect">
            <a:avLst/>
          </a:prstGeom>
          <a:solidFill>
            <a:srgbClr val="142A3E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35204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C8FF"/>
                </a:solidFill>
              </a:rPr>
              <a:t>🏢 Enterprises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11480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IT teams spin up microsites and campaign pages without developer queues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658368"/>
            <a:ext cx="8686800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C8FF"/>
                </a:solidFill>
              </a:rPr>
              <a:t>Why We Win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60120"/>
            <a:ext cx="2743200" cy="502920"/>
          </a:xfrm>
          <a:prstGeom prst="rect">
            <a:avLst/>
          </a:prstGeom>
          <a:solidFill>
            <a:srgbClr val="1A3A5C"/>
          </a:solidFill>
          <a:ln w="635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058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3108960" y="960120"/>
            <a:ext cx="2103120" cy="502920"/>
          </a:xfrm>
          <a:prstGeom prst="rect">
            <a:avLst/>
          </a:prstGeom>
          <a:solidFill>
            <a:srgbClr val="00C8FF"/>
          </a:solidFill>
          <a:ln w="635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10058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Agentic AI Builder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257800" y="960120"/>
            <a:ext cx="2103120" cy="502920"/>
          </a:xfrm>
          <a:prstGeom prst="rect">
            <a:avLst/>
          </a:prstGeom>
          <a:solidFill>
            <a:srgbClr val="1A3A5C"/>
          </a:solidFill>
          <a:ln w="635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57800" y="10058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Wix / Squarespace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960120"/>
            <a:ext cx="2103120" cy="502920"/>
          </a:xfrm>
          <a:prstGeom prst="rect">
            <a:avLst/>
          </a:prstGeom>
          <a:solidFill>
            <a:srgbClr val="1A3A5C"/>
          </a:solidFill>
          <a:ln w="635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10058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Freelance Agency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55480" y="960120"/>
            <a:ext cx="2103120" cy="502920"/>
          </a:xfrm>
          <a:prstGeom prst="rect">
            <a:avLst/>
          </a:prstGeom>
          <a:solidFill>
            <a:srgbClr val="1A3A5C"/>
          </a:solidFill>
          <a:ln w="635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55480" y="10058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In-House Dev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508760"/>
            <a:ext cx="2743200" cy="576072"/>
          </a:xfrm>
          <a:prstGeom prst="rect">
            <a:avLst/>
          </a:prstGeom>
          <a:solidFill>
            <a:srgbClr val="102436"/>
          </a:solidFill>
          <a:ln w="5080">
            <a:solidFill>
              <a:srgbClr val="1E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AI-generated content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0" y="1508760"/>
            <a:ext cx="2103120" cy="576072"/>
          </a:xfrm>
          <a:prstGeom prst="rect">
            <a:avLst/>
          </a:prstGeom>
          <a:solidFill>
            <a:srgbClr val="0A2A1A"/>
          </a:solidFill>
          <a:ln w="5080">
            <a:solidFill>
              <a:srgbClr val="1E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08960" y="15544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8A"/>
                </a:solidFill>
              </a:rPr>
              <a:t>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57800" y="1508760"/>
            <a:ext cx="2103120" cy="576072"/>
          </a:xfrm>
          <a:prstGeom prst="rect">
            <a:avLst/>
          </a:prstGeom>
          <a:solidFill>
            <a:srgbClr val="102436"/>
          </a:solidFill>
          <a:ln w="5080">
            <a:solidFill>
              <a:srgbClr val="1E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57800" y="15544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6B6B"/>
                </a:solidFill>
              </a:rPr>
              <a:t>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06640" y="1508760"/>
            <a:ext cx="2103120" cy="576072"/>
          </a:xfrm>
          <a:prstGeom prst="rect">
            <a:avLst/>
          </a:prstGeom>
          <a:solidFill>
            <a:srgbClr val="102436"/>
          </a:solidFill>
          <a:ln w="5080">
            <a:solidFill>
              <a:srgbClr val="1E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0" y="15544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B4C8"/>
                </a:solidFill>
              </a:rPr>
              <a:t>~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55480" y="1508760"/>
            <a:ext cx="2103120" cy="576072"/>
          </a:xfrm>
          <a:prstGeom prst="rect">
            <a:avLst/>
          </a:prstGeom>
          <a:solidFill>
            <a:srgbClr val="102436"/>
          </a:solidFill>
          <a:ln w="5080">
            <a:solidFill>
              <a:srgbClr val="1E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55480" y="15544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B4C8"/>
                </a:solidFill>
              </a:rPr>
              <a:t>~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176272"/>
            <a:ext cx="2743200" cy="576072"/>
          </a:xfrm>
          <a:prstGeom prst="rect">
            <a:avLst/>
          </a:prstGeom>
          <a:solidFill>
            <a:srgbClr val="102436"/>
          </a:solidFill>
          <a:ln w="5080">
            <a:solidFill>
              <a:srgbClr val="1E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2221991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Multi-agent pipeline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08960" y="2176272"/>
            <a:ext cx="2103120" cy="576072"/>
          </a:xfrm>
          <a:prstGeom prst="rect">
            <a:avLst/>
          </a:prstGeom>
          <a:solidFill>
            <a:srgbClr val="0A2A1A"/>
          </a:solidFill>
          <a:ln w="5080">
            <a:solidFill>
              <a:srgbClr val="1E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08960" y="2221991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8A"/>
                </a:solidFill>
              </a:rPr>
              <a:t>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57800" y="2176272"/>
            <a:ext cx="2103120" cy="576072"/>
          </a:xfrm>
          <a:prstGeom prst="rect">
            <a:avLst/>
          </a:prstGeom>
          <a:solidFill>
            <a:srgbClr val="102436"/>
          </a:solidFill>
          <a:ln w="5080">
            <a:solidFill>
              <a:srgbClr val="1E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57800" y="2221991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6B6B"/>
                </a:solidFill>
              </a:rPr>
              <a:t>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06640" y="2176272"/>
            <a:ext cx="2103120" cy="576072"/>
          </a:xfrm>
          <a:prstGeom prst="rect">
            <a:avLst/>
          </a:prstGeom>
          <a:solidFill>
            <a:srgbClr val="102436"/>
          </a:solidFill>
          <a:ln w="5080">
            <a:solidFill>
              <a:srgbClr val="1E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06640" y="2221991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6B6B"/>
                </a:solidFill>
              </a:rPr>
              <a:t>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55480" y="2176272"/>
            <a:ext cx="2103120" cy="576072"/>
          </a:xfrm>
          <a:prstGeom prst="rect">
            <a:avLst/>
          </a:prstGeom>
          <a:solidFill>
            <a:srgbClr val="102436"/>
          </a:solidFill>
          <a:ln w="5080">
            <a:solidFill>
              <a:srgbClr val="1E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55480" y="2221991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6B6B"/>
                </a:solidFill>
              </a:rPr>
              <a:t>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2843784"/>
            <a:ext cx="2743200" cy="576072"/>
          </a:xfrm>
          <a:prstGeom prst="rect">
            <a:avLst/>
          </a:prstGeom>
          <a:solidFill>
            <a:srgbClr val="102436"/>
          </a:solidFill>
          <a:ln w="5080">
            <a:solidFill>
              <a:srgbClr val="1E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2889503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Live web search context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08960" y="2843784"/>
            <a:ext cx="2103120" cy="576072"/>
          </a:xfrm>
          <a:prstGeom prst="rect">
            <a:avLst/>
          </a:prstGeom>
          <a:solidFill>
            <a:srgbClr val="0A2A1A"/>
          </a:solidFill>
          <a:ln w="5080">
            <a:solidFill>
              <a:srgbClr val="1E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08960" y="2889503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8A"/>
                </a:solidFill>
              </a:rPr>
              <a:t>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57800" y="2843784"/>
            <a:ext cx="2103120" cy="576072"/>
          </a:xfrm>
          <a:prstGeom prst="rect">
            <a:avLst/>
          </a:prstGeom>
          <a:solidFill>
            <a:srgbClr val="102436"/>
          </a:solidFill>
          <a:ln w="5080">
            <a:solidFill>
              <a:srgbClr val="1E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57800" y="2889503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6B6B"/>
                </a:solidFill>
              </a:rPr>
              <a:t>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06640" y="2843784"/>
            <a:ext cx="2103120" cy="576072"/>
          </a:xfrm>
          <a:prstGeom prst="rect">
            <a:avLst/>
          </a:prstGeom>
          <a:solidFill>
            <a:srgbClr val="102436"/>
          </a:solidFill>
          <a:ln w="5080">
            <a:solidFill>
              <a:srgbClr val="1E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06640" y="2889503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B4C8"/>
                </a:solidFill>
              </a:rPr>
              <a:t>~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555480" y="2843784"/>
            <a:ext cx="2103120" cy="576072"/>
          </a:xfrm>
          <a:prstGeom prst="rect">
            <a:avLst/>
          </a:prstGeom>
          <a:solidFill>
            <a:srgbClr val="102436"/>
          </a:solidFill>
          <a:ln w="5080">
            <a:solidFill>
              <a:srgbClr val="1E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55480" y="2889503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6B6B"/>
                </a:solidFill>
              </a:rPr>
              <a:t>✗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3511296"/>
            <a:ext cx="2743200" cy="576072"/>
          </a:xfrm>
          <a:prstGeom prst="rect">
            <a:avLst/>
          </a:prstGeom>
          <a:solidFill>
            <a:srgbClr val="102436"/>
          </a:solidFill>
          <a:ln w="5080">
            <a:solidFill>
              <a:srgbClr val="1E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0040" y="3557015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Built-in multi-tenancy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08960" y="3511296"/>
            <a:ext cx="2103120" cy="576072"/>
          </a:xfrm>
          <a:prstGeom prst="rect">
            <a:avLst/>
          </a:prstGeom>
          <a:solidFill>
            <a:srgbClr val="0A2A1A"/>
          </a:solidFill>
          <a:ln w="5080">
            <a:solidFill>
              <a:srgbClr val="1E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08960" y="3557015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8A"/>
                </a:solidFill>
              </a:rPr>
              <a:t>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257800" y="3511296"/>
            <a:ext cx="2103120" cy="576072"/>
          </a:xfrm>
          <a:prstGeom prst="rect">
            <a:avLst/>
          </a:prstGeom>
          <a:solidFill>
            <a:srgbClr val="102436"/>
          </a:solidFill>
          <a:ln w="5080">
            <a:solidFill>
              <a:srgbClr val="1E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257800" y="3557015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6B6B"/>
                </a:solidFill>
              </a:rPr>
              <a:t>✗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06640" y="3511296"/>
            <a:ext cx="2103120" cy="576072"/>
          </a:xfrm>
          <a:prstGeom prst="rect">
            <a:avLst/>
          </a:prstGeom>
          <a:solidFill>
            <a:srgbClr val="102436"/>
          </a:solidFill>
          <a:ln w="5080">
            <a:solidFill>
              <a:srgbClr val="1E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06640" y="3557015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6B6B"/>
                </a:solidFill>
              </a:rPr>
              <a:t>✗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555480" y="3511296"/>
            <a:ext cx="2103120" cy="576072"/>
          </a:xfrm>
          <a:prstGeom prst="rect">
            <a:avLst/>
          </a:prstGeom>
          <a:solidFill>
            <a:srgbClr val="102436"/>
          </a:solidFill>
          <a:ln w="5080">
            <a:solidFill>
              <a:srgbClr val="1E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55480" y="3557015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B4C8"/>
                </a:solidFill>
              </a:rPr>
              <a:t>~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4178808"/>
            <a:ext cx="2743200" cy="576072"/>
          </a:xfrm>
          <a:prstGeom prst="rect">
            <a:avLst/>
          </a:prstGeom>
          <a:solidFill>
            <a:srgbClr val="102436"/>
          </a:solidFill>
          <a:ln w="5080">
            <a:solidFill>
              <a:srgbClr val="1E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0040" y="422452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Stripe + OTP built-in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108960" y="4178808"/>
            <a:ext cx="2103120" cy="576072"/>
          </a:xfrm>
          <a:prstGeom prst="rect">
            <a:avLst/>
          </a:prstGeom>
          <a:solidFill>
            <a:srgbClr val="0A2A1A"/>
          </a:solidFill>
          <a:ln w="5080">
            <a:solidFill>
              <a:srgbClr val="1E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108960" y="422452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8A"/>
                </a:solidFill>
              </a:rPr>
              <a:t>✓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257800" y="4178808"/>
            <a:ext cx="2103120" cy="576072"/>
          </a:xfrm>
          <a:prstGeom prst="rect">
            <a:avLst/>
          </a:prstGeom>
          <a:solidFill>
            <a:srgbClr val="102436"/>
          </a:solidFill>
          <a:ln w="5080">
            <a:solidFill>
              <a:srgbClr val="1E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257800" y="422452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6B6B"/>
                </a:solidFill>
              </a:rPr>
              <a:t>✗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406640" y="4178808"/>
            <a:ext cx="2103120" cy="576072"/>
          </a:xfrm>
          <a:prstGeom prst="rect">
            <a:avLst/>
          </a:prstGeom>
          <a:solidFill>
            <a:srgbClr val="102436"/>
          </a:solidFill>
          <a:ln w="5080">
            <a:solidFill>
              <a:srgbClr val="1E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406640" y="422452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6B6B"/>
                </a:solidFill>
              </a:rPr>
              <a:t>✗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55480" y="4178808"/>
            <a:ext cx="2103120" cy="576072"/>
          </a:xfrm>
          <a:prstGeom prst="rect">
            <a:avLst/>
          </a:prstGeom>
          <a:solidFill>
            <a:srgbClr val="102436"/>
          </a:solidFill>
          <a:ln w="5080">
            <a:solidFill>
              <a:srgbClr val="1E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555480" y="422452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B4C8"/>
                </a:solidFill>
              </a:rPr>
              <a:t>~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0040" y="4846320"/>
            <a:ext cx="2743200" cy="576072"/>
          </a:xfrm>
          <a:prstGeom prst="rect">
            <a:avLst/>
          </a:prstGeom>
          <a:solidFill>
            <a:srgbClr val="102436"/>
          </a:solidFill>
          <a:ln w="5080">
            <a:solidFill>
              <a:srgbClr val="1E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20040" y="4892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Minutes to publish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108960" y="4846320"/>
            <a:ext cx="2103120" cy="576072"/>
          </a:xfrm>
          <a:prstGeom prst="rect">
            <a:avLst/>
          </a:prstGeom>
          <a:solidFill>
            <a:srgbClr val="0A2A1A"/>
          </a:solidFill>
          <a:ln w="5080">
            <a:solidFill>
              <a:srgbClr val="1E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108960" y="4892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8A"/>
                </a:solidFill>
              </a:rPr>
              <a:t>✓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257800" y="4846320"/>
            <a:ext cx="2103120" cy="576072"/>
          </a:xfrm>
          <a:prstGeom prst="rect">
            <a:avLst/>
          </a:prstGeom>
          <a:solidFill>
            <a:srgbClr val="102436"/>
          </a:solidFill>
          <a:ln w="5080">
            <a:solidFill>
              <a:srgbClr val="1E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257800" y="4892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B4C8"/>
                </a:solidFill>
              </a:rPr>
              <a:t>~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406640" y="4846320"/>
            <a:ext cx="2103120" cy="576072"/>
          </a:xfrm>
          <a:prstGeom prst="rect">
            <a:avLst/>
          </a:prstGeom>
          <a:solidFill>
            <a:srgbClr val="102436"/>
          </a:solidFill>
          <a:ln w="5080">
            <a:solidFill>
              <a:srgbClr val="1E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406640" y="4892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6B6B"/>
                </a:solidFill>
              </a:rPr>
              <a:t>✗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555480" y="4846320"/>
            <a:ext cx="2103120" cy="576072"/>
          </a:xfrm>
          <a:prstGeom prst="rect">
            <a:avLst/>
          </a:prstGeom>
          <a:solidFill>
            <a:srgbClr val="102436"/>
          </a:solidFill>
          <a:ln w="5080">
            <a:solidFill>
              <a:srgbClr val="1E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555480" y="4892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6B6B"/>
                </a:solidFill>
              </a:rPr>
              <a:t>✗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20040" y="5513831"/>
            <a:ext cx="2743200" cy="576072"/>
          </a:xfrm>
          <a:prstGeom prst="rect">
            <a:avLst/>
          </a:prstGeom>
          <a:solidFill>
            <a:srgbClr val="102436"/>
          </a:solidFill>
          <a:ln w="5080">
            <a:solidFill>
              <a:srgbClr val="1E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20040" y="5559551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Self-hosted / private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108960" y="5513831"/>
            <a:ext cx="2103120" cy="576072"/>
          </a:xfrm>
          <a:prstGeom prst="rect">
            <a:avLst/>
          </a:prstGeom>
          <a:solidFill>
            <a:srgbClr val="0A2A1A"/>
          </a:solidFill>
          <a:ln w="5080">
            <a:solidFill>
              <a:srgbClr val="1E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108960" y="5559551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8A"/>
                </a:solidFill>
              </a:rPr>
              <a:t>✓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257800" y="5513831"/>
            <a:ext cx="2103120" cy="576072"/>
          </a:xfrm>
          <a:prstGeom prst="rect">
            <a:avLst/>
          </a:prstGeom>
          <a:solidFill>
            <a:srgbClr val="102436"/>
          </a:solidFill>
          <a:ln w="5080">
            <a:solidFill>
              <a:srgbClr val="1E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257800" y="5559551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6B6B"/>
                </a:solidFill>
              </a:rPr>
              <a:t>✗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406640" y="5513831"/>
            <a:ext cx="2103120" cy="576072"/>
          </a:xfrm>
          <a:prstGeom prst="rect">
            <a:avLst/>
          </a:prstGeom>
          <a:solidFill>
            <a:srgbClr val="102436"/>
          </a:solidFill>
          <a:ln w="5080">
            <a:solidFill>
              <a:srgbClr val="1E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406640" y="5559551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6B6B"/>
                </a:solidFill>
              </a:rPr>
              <a:t>✗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555480" y="5513831"/>
            <a:ext cx="2103120" cy="576072"/>
          </a:xfrm>
          <a:prstGeom prst="rect">
            <a:avLst/>
          </a:prstGeom>
          <a:solidFill>
            <a:srgbClr val="102436"/>
          </a:solidFill>
          <a:ln w="5080">
            <a:solidFill>
              <a:srgbClr val="1E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555480" y="5559551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D48A"/>
                </a:solidFill>
              </a:rPr>
              <a:t>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658368"/>
            <a:ext cx="8686800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C8FF"/>
                </a:solidFill>
              </a:rP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5577840" cy="1097280"/>
          </a:xfrm>
          <a:prstGeom prst="rect">
            <a:avLst/>
          </a:prstGeom>
          <a:solidFill>
            <a:srgbClr val="142A3E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AI / NLP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OpenAI GPT-4.1-mini · CrewAI 1.14 · Tavily Web Search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960120"/>
            <a:ext cx="5577840" cy="1097280"/>
          </a:xfrm>
          <a:prstGeom prst="rect">
            <a:avLst/>
          </a:prstGeom>
          <a:solidFill>
            <a:srgbClr val="142A3E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005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46304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Python 3.9+ · FastAPI 0.115 · Uvicorn · Pydantic v2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86000"/>
            <a:ext cx="5577840" cy="1097280"/>
          </a:xfrm>
          <a:prstGeom prst="rect">
            <a:avLst/>
          </a:prstGeom>
          <a:solidFill>
            <a:srgbClr val="142A3E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331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78892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Snowflake (production) · SQLite (development fallback)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286000"/>
            <a:ext cx="5577840" cy="1097280"/>
          </a:xfrm>
          <a:prstGeom prst="rect">
            <a:avLst/>
          </a:prstGeom>
          <a:solidFill>
            <a:srgbClr val="142A3E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331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Cloud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78892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AWS S3 (hosting) · Google Drive (optional image store)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611880"/>
            <a:ext cx="5577840" cy="1097280"/>
          </a:xfrm>
          <a:prstGeom prst="rect">
            <a:avLst/>
          </a:prstGeom>
          <a:solidFill>
            <a:srgbClr val="142A3E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657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Auth &amp; 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114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JWT · bcrypt · Fernet encryption · SlowAPI rate limiting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611880"/>
            <a:ext cx="5577840" cy="1097280"/>
          </a:xfrm>
          <a:prstGeom prst="rect">
            <a:avLst/>
          </a:prstGeom>
          <a:solidFill>
            <a:srgbClr val="142A3E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657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Payments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114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Stripe 12.1 · Webhook verification · Subscription management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937759"/>
            <a:ext cx="5577840" cy="1097280"/>
          </a:xfrm>
          <a:prstGeom prst="rect">
            <a:avLst/>
          </a:prstGeom>
          <a:solidFill>
            <a:srgbClr val="142A3E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98347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Notifications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440679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Twilio SMS &amp; WhatsApp · SendGrid (SMTP) Email OTP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4937759"/>
            <a:ext cx="5577840" cy="1097280"/>
          </a:xfrm>
          <a:prstGeom prst="rect">
            <a:avLst/>
          </a:prstGeom>
          <a:solidFill>
            <a:srgbClr val="142A3E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498347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Frontend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440679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Vanilla HTML/CSS/JS · No frontend build step required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0"/>
            <a:ext cx="12188952" cy="4572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6400800"/>
            <a:ext cx="12188952" cy="4572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Ready to Transform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C8FF"/>
                </a:solidFill>
              </a:rPr>
              <a:t>Your Digital Presence?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0B4C8"/>
                </a:solidFill>
              </a:rPr>
              <a:t>From conversation to live website in under 2 minutes.
Enterprise-grade security, billing, and multi-tenant management — out of the box.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572000"/>
            <a:ext cx="3108960" cy="685800"/>
          </a:xfrm>
          <a:prstGeom prst="rect">
            <a:avLst/>
          </a:prstGeom>
          <a:solidFill>
            <a:srgbClr val="00C8FF"/>
          </a:solidFill>
          <a:ln w="1524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64515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Schedule a Live Demo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4572000"/>
            <a:ext cx="3108960" cy="685800"/>
          </a:xfrm>
          <a:prstGeom prst="rect">
            <a:avLst/>
          </a:prstGeom>
          <a:solidFill>
            <a:srgbClr val="142A3E"/>
          </a:solidFill>
          <a:ln w="1524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464515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Request Pilot Access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4572000"/>
            <a:ext cx="3108960" cy="685800"/>
          </a:xfrm>
          <a:prstGeom prst="rect">
            <a:avLst/>
          </a:prstGeom>
          <a:solidFill>
            <a:srgbClr val="142A3E"/>
          </a:solidFill>
          <a:ln w="1524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464515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Review Technical Documentation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6692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0B4C8"/>
                </a:solidFill>
              </a:rPr>
              <a:t>senthilvasansubbu  ·  agentic-s3-website-builder  ·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